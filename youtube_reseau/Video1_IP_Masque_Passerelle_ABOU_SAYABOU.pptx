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A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AB"/>
                </a:solidFill>
                <a:latin typeface="Calibri"/>
              </a:rPr>
              <a:t>COURS RÉSEAU  •  VIDÉO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IP, masque, passerelle :</a:t>
            </a:r>
          </a:p>
          <a:p>
            <a:r>
              <a:rPr sz="3600" b="1">
                <a:solidFill>
                  <a:srgbClr val="E8F1F8"/>
                </a:solidFill>
                <a:latin typeface="Calibri"/>
              </a:rPr>
              <a:t>le tuto qui règle la confusion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B0C4DE"/>
                </a:solidFill>
                <a:latin typeface="Calibri"/>
              </a:rPr>
              <a:t>Durée 1 heure  •  Niveau débutant → intermédiaire  •  Théorie + lab + exercices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ABOU SAYABOU</a:t>
            </a:r>
          </a:p>
          <a:p>
            <a:r>
              <a:rPr sz="1400" b="0">
                <a:solidFill>
                  <a:srgbClr val="E8F1F8"/>
                </a:solidFill>
                <a:latin typeface="Calibri"/>
              </a:rPr>
              <a:t>Formateur cybersécurité &amp; réseaux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Objectif de la vidéo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0:00 – 1:30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À la fin de cette heure, tu sauras…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3566160" cy="34747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1. Lire une IP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Comprendre les 4 octets, le rôle de chaque partie, et ce qu’est une adresse privée vs publique.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566160" cy="34747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2. Utiliser le masque / CIDR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Calculer réseau, broadcast et plage d’hôtes pour /24, /16, /26… sans calculatrice magique.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920240"/>
            <a:ext cx="3566160" cy="34747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3. Diagnostiquer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Savoir si le problème vient de l’IP, du masque, de la passerelle ou du DNS (4 ping).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Plan de la session (1 h)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Chapitres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1371600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4173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Analogie ville — adresse, quartier, sortie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01952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1901952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947672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IPv4 et binaire (juste ce qu’il faut)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32304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2432304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14:00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478024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Masque &amp; CIDR (/8, /16, /24, /25, /30)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62656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2962656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24:00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008376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Réseau • Host • Broadcast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93008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3493008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34:00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538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Passerelle (gateway)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4023360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40:00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0690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DHCP vs IP fixe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553712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4553712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45:00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599432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Lab Windows / Linux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084064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5084064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52:00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129784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5 exercices + récap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Analogie : le réseau comme une ville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1:30 – 6:00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657600" cy="20116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🏠 Adresse IP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Le numéro de ta maison.
Ex. : 192.168.1.45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657600" cy="20116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🗺️ Masque / quartier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Qui est dans ta rue (réseau local).
Ex. : /24 = tout le 192.168.1.x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657600" cy="20116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🚪 Passerelle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La sortie de la ville (box / routeur).
Ex. : 192.168.1.1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Sans adresse → tu n’existes pas sur le réseau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Sans masque → tu ne sais pas qui est « local »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Sans passerelle → tu restes bloqué dans ton quartier (pas d’Internet)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Schéma de base à retenir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Schéma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737360" cy="1371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PC1
192.168.1.10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286000"/>
            <a:ext cx="1737360" cy="1371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PC2
192.168.1.20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286000"/>
            <a:ext cx="1737360" cy="137160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Switch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286000"/>
            <a:ext cx="1737360" cy="13716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Passerelle
192.168.1.1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286000"/>
            <a:ext cx="1737360" cy="1371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Réseau local (LAN) : 192.168.1.0/24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Masque : 255.255.255.0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Tout trafic hors 192.168.1.x → envoyé à la passerelle 192.168.1.1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IPv4 : structure d’une adresse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6:00 – 14:00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4 octets • 32 bits • valeur 0–255 chacun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011680"/>
            <a:ext cx="2011680" cy="146304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192</a:t>
            </a:r>
          </a:p>
          <a:p>
            <a:pPr algn="ctr"/>
            <a:r>
              <a:rPr sz="1200" b="0">
                <a:solidFill>
                  <a:srgbClr val="E8F1F8"/>
                </a:solidFill>
                <a:latin typeface="Calibri"/>
              </a:rPr>
              <a:t>octet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39" y="237744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E86AB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011680" cy="146304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168</a:t>
            </a:r>
          </a:p>
          <a:p>
            <a:pPr algn="ctr"/>
            <a:r>
              <a:rPr sz="1200" b="0">
                <a:solidFill>
                  <a:srgbClr val="E8F1F8"/>
                </a:solidFill>
                <a:latin typeface="Calibri"/>
              </a:rPr>
              <a:t>octet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37744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E86AB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011680"/>
            <a:ext cx="2011680" cy="146304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/>
            <a:r>
              <a:rPr sz="1200" b="0">
                <a:solidFill>
                  <a:srgbClr val="E8F1F8"/>
                </a:solidFill>
                <a:latin typeface="Calibri"/>
              </a:rPr>
              <a:t>octet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37744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E86AB"/>
                </a:solidFill>
                <a:latin typeface="Calibr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2011680"/>
            <a:ext cx="2011680" cy="146304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45</a:t>
            </a:r>
          </a:p>
          <a:p>
            <a:pPr algn="ctr"/>
            <a:r>
              <a:rPr sz="1200" b="0">
                <a:solidFill>
                  <a:srgbClr val="E8F1F8"/>
                </a:solidFill>
                <a:latin typeface="Calibri"/>
              </a:rPr>
              <a:t>octet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Exemple : 192.168.1.45  →  binaire sur 32 bits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Adresses privées (RFC1918) : 10.0.0.0/8 • 172.16.0.0/12 • 192.168.0.0/16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Les classes A/B/C = historique → aujourd’hui on parle CIDR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Binaire : juste ce qu’il faut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Astuce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Un octet = 8 bits. Poids : 128 64 32 16 8 4 2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188720" cy="16459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128</a:t>
            </a:r>
          </a:p>
          <a:p>
            <a:pPr algn="ctr">
              <a:spcBef>
                <a:spcPts val="120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2011680"/>
            <a:ext cx="1188720" cy="16459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64</a:t>
            </a:r>
          </a:p>
          <a:p>
            <a:pPr algn="ctr">
              <a:spcBef>
                <a:spcPts val="120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1188720" cy="1645920"/>
          </a:xfrm>
          <a:prstGeom prst="round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32</a:t>
            </a:r>
          </a:p>
          <a:p>
            <a:pPr algn="ctr">
              <a:spcBef>
                <a:spcPts val="120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2011680"/>
            <a:ext cx="1188720" cy="1645920"/>
          </a:xfrm>
          <a:prstGeom prst="round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16</a:t>
            </a:r>
          </a:p>
          <a:p>
            <a:pPr algn="ctr">
              <a:spcBef>
                <a:spcPts val="120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1188720" cy="1645920"/>
          </a:xfrm>
          <a:prstGeom prst="round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  <a:p>
            <a:pPr algn="ctr">
              <a:spcBef>
                <a:spcPts val="120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011680"/>
            <a:ext cx="1188720" cy="1645920"/>
          </a:xfrm>
          <a:prstGeom prst="round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>
              <a:spcBef>
                <a:spcPts val="120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011680"/>
            <a:ext cx="1188720" cy="1645920"/>
          </a:xfrm>
          <a:prstGeom prst="round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>
              <a:spcBef>
                <a:spcPts val="120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5559" y="2011680"/>
            <a:ext cx="1188720" cy="1645920"/>
          </a:xfrm>
          <a:prstGeom prst="round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>
              <a:spcBef>
                <a:spcPts val="120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192 = 128+64 → bits 11000000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255 = tous les bits à 1 → 11111111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0 = tous les bits à 0 → 00000000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Tu n’as PAS besoin d’être un crack du binaire pour utiliser /24 au quotidien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Masque de sous-réseau &amp; CIDR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14:00 – 24:00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Le masque dit : « quels bits font partie du RÉSEAU ?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371600" cy="41148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CIDR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737360"/>
            <a:ext cx="2834640" cy="41148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Masque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737360"/>
            <a:ext cx="2834640" cy="41148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Hôtes utiles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474720" cy="41148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/8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194560"/>
            <a:ext cx="2834640" cy="4572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255.0.0.0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194560"/>
            <a:ext cx="2834640" cy="4572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~16 millions d’hôtes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94560"/>
            <a:ext cx="3474720" cy="4572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Très grand réseau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/16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2651760"/>
            <a:ext cx="2834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255.255.0.0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651760"/>
            <a:ext cx="2834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65 534 hôtes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651760"/>
            <a:ext cx="3474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Ex. 172.16.0.0/16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08960"/>
            <a:ext cx="1371600" cy="4572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/24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3108960"/>
            <a:ext cx="2834640" cy="4572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255.255.255.0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108960"/>
            <a:ext cx="2834640" cy="4572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254 hôtes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108960"/>
            <a:ext cx="3474720" cy="4572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Le plus courant (LAN)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6616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/25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3566160"/>
            <a:ext cx="2834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255.255.255.128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3566160"/>
            <a:ext cx="2834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126 hôtes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566160"/>
            <a:ext cx="3474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Découpe un /24 en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23360"/>
            <a:ext cx="1371600" cy="4572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/30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4023360"/>
            <a:ext cx="2834640" cy="4572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255.255.255.252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4023360"/>
            <a:ext cx="2834640" cy="4572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2 hôtes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4023360"/>
            <a:ext cx="3474720" cy="4572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Lien point-à-point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754880"/>
            <a:ext cx="11247120" cy="1097280"/>
          </a:xfrm>
          <a:prstGeom prst="roundRect">
            <a:avLst/>
          </a:prstGeom>
          <a:solidFill>
            <a:srgbClr val="FFF3E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Formule hôtes = 2^(32 − préfixe) − 2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On retire 2 : adresse réseau + adresse broadcast. Ex. /24 → 2^8 − 2 = 254.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Méthode : réseau / hosts / broadcast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24:00 – 34:00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Exemple : 192.168.10.45/24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37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D3B66"/>
                </a:solidFill>
                <a:latin typeface="Calibri"/>
              </a:rPr>
              <a:t>Écrire le masque  —  </a:t>
            </a:r>
            <a:r>
              <a:rPr sz="1800" b="0">
                <a:solidFill>
                  <a:srgbClr val="1A1A1A"/>
                </a:solidFill>
                <a:latin typeface="Calibri"/>
              </a:rPr>
              <a:t> /24 → 255.255.255.0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14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D3B66"/>
                </a:solidFill>
                <a:latin typeface="Calibri"/>
              </a:rPr>
              <a:t>Trouver le réseau  —  </a:t>
            </a:r>
            <a:r>
              <a:rPr sz="1800" b="0">
                <a:solidFill>
                  <a:srgbClr val="1A1A1A"/>
                </a:solidFill>
                <a:latin typeface="Calibri"/>
              </a:rPr>
              <a:t> Bits hôtes à 0 → 192.168.10.0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D3B66"/>
                </a:solidFill>
                <a:latin typeface="Calibri"/>
              </a:rPr>
              <a:t>Trouver le broadcast  —  </a:t>
            </a:r>
            <a:r>
              <a:rPr sz="1800" b="0">
                <a:solidFill>
                  <a:srgbClr val="1A1A1A"/>
                </a:solidFill>
                <a:latin typeface="Calibri"/>
              </a:rPr>
              <a:t> Bits hôtes à 1 → 192.168.10.255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069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D3B66"/>
                </a:solidFill>
                <a:latin typeface="Calibri"/>
              </a:rPr>
              <a:t>Plage utilisable  —  </a:t>
            </a:r>
            <a:r>
              <a:rPr sz="1800" b="0">
                <a:solidFill>
                  <a:srgbClr val="1A1A1A"/>
                </a:solidFill>
                <a:latin typeface="Calibri"/>
              </a:rPr>
              <a:t> 192.168.10.1  →  192.168.10.254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2ᵉ exemple : 192.168.10.45/26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Exercice guidé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11480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Calcul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/26 = 255.255.255.192
Blocs de 64 adresses (2^6)
Réseaux : .0  |  .64  |  .128  |  .192
45 est dans le bloc .0 → .63
Réseau     : 192.168.10.0
Broadcast  : 192.168.10.63
Hôtes      : .1 → .62
Passerelle typique : 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11480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À retenir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Plus le préfixe est GRAND,
  plus le réseau est PETIT
• /24 = confort débutant
• /30 = liens routeurs
• /16 = campus / labo
• Toujours vérifier que la
  passerelle est DANS le même
  réseau que l’IP de la machine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La passerelle (default gateway)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34:00 – 40:00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C’est le « prochain saut » (next hop) pour tout trafic hors LAN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En général : l’IP du routeur / de la box sur ton réseau (souvent .1 ou .254)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Elle DOIT être dans le même sous-réseau que ta machine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Symptôme classique : ping local OK, Internet KO → suspecter GW / NAT / 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3657600" cy="201168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Ping voisin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OK → LAN / switch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840480"/>
            <a:ext cx="3657600" cy="2011680"/>
          </a:xfrm>
          <a:prstGeom prst="roundRect">
            <a:avLst/>
          </a:prstGeom>
          <a:solidFill>
            <a:srgbClr val="FFF8E1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Ping passerelle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OK → ta config L3 locale 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840480"/>
            <a:ext cx="3566160" cy="20116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Ping 8.8.8.8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OK → routage Internet 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DHCP vs adresse IP fixe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40:00 – 45:00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DHCP (automatique)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La box / le serveur DHCP donne :
  IP + masque + passerelle + DNS
• Idéal pour PC, téléphones, invités
• Bail = durée de validité
• Réservation DHCP = « fixe soft »
  (même IP selon MAC)
• APIPA 169.254.x.x = pas de DHCP 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FFF3E0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IP fixe (statique)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Tu configures tout à la main
• Idéal pour :
  serveurs, imprimantes, NAS,
  caméras, passerelles
• Documente : IP / masque / GW / DNS
• Évite les conflits (hors plage DHCP)
• Erreur fréquente : GW oubliée
  ou DNS oublié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Lab : lire sa config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45:00 – 52:00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Windows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ipconfig /all
• Adresse IPv4
• Masque de sous-réseau
• Passerelle par défaut
• Serveurs DNS
• DHCP activé ? Bail ?
ipconfig /release
ipconfig /renew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Linux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ip a
ip route
cat /etc/resolv.conf
• inet = IP + CIDR (/24)
• default via = passerelle
• nameserver = DNS
nmcli device show
(NetworkManager)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Les 4 ping du diagnostic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Méthode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" cy="91440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
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554480"/>
            <a:ext cx="10424160" cy="91440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ping 127.0.0.1   —   Pile TCP/IP locale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Si KO → OS / stack réseau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06039"/>
            <a:ext cx="548640" cy="91440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
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606039"/>
            <a:ext cx="10424160" cy="91440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ping Passerelle   —   LAN + config L3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Si KO → câble, IP, VLAN, GW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599"/>
            <a:ext cx="548640" cy="91440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
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657599"/>
            <a:ext cx="10424160" cy="91440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ping 8.8.8.8   —   Sortie Internet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Si KO → NAT / FAI / firewall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09159"/>
            <a:ext cx="548640" cy="91440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
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4709159"/>
            <a:ext cx="10424160" cy="91440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ping google.com   —   Résolution DNS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Si KO alors que 3 OK → DNS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5 exercices (à faire avec moi)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52:00 – 58:00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▸  1.  IP 10.0.0.50/24  →  réseau ? broadcast ? plage ?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▸  2.  IP 172.16.5.10/16  →  réseau ? broadcast ?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▸  3.  192.168.1.10/24 et 192.168.2.10/24 : même réseau ?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▸  4.  PC = 192.168.1.50/24  GW = 192.168.0.1  →  problème ?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▸  5.  Combien d’hôtes dans un /27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11247120" cy="914400"/>
          </a:xfrm>
          <a:prstGeom prst="roundRect">
            <a:avLst/>
          </a:prstGeom>
          <a:solidFill>
            <a:srgbClr val="E3F2FD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Pause écran : laisse 20–30 secondes par exercice avant le corrigé.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Corrigé des exercices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Corrigé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▸  1.  Réseau 10.0.0.0  •  Broadcast 10.0.0.255  •  Hôtes .1–.254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▸  2.  Réseau 172.16.0.0  •  Broadcast 172.16.255.255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▸  3.  NON — 192.168.1.0/24 ≠ 192.168.2.0/24 (il faut un routeur)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▸  4.  OUI problème — GW hors du réseau du PC (mauvais sous-réseau)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▸  5.  /27 → 2^(32-27) − 2 = 30 hôtes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Erreurs classiques (à éviter)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58:00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777240"/>
          </a:xfrm>
          <a:prstGeom prst="round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62828"/>
                </a:solidFill>
                <a:latin typeface="Calibri"/>
              </a:rPr>
              <a:t>✖  Masque faux  →  </a:t>
            </a:r>
            <a:r>
              <a:rPr sz="1600" b="0">
                <a:solidFill>
                  <a:srgbClr val="1A1A1A"/>
                </a:solidFill>
                <a:latin typeface="Calibri"/>
              </a:rPr>
              <a:t>Deux PC « se voient » mal ou pas du tout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3160"/>
            <a:ext cx="11247120" cy="777240"/>
          </a:xfrm>
          <a:prstGeom prst="round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62828"/>
                </a:solidFill>
                <a:latin typeface="Calibri"/>
              </a:rPr>
              <a:t>✖  GW d’un autre réseau  →  </a:t>
            </a:r>
            <a:r>
              <a:rPr sz="1600" b="0">
                <a:solidFill>
                  <a:srgbClr val="1A1A1A"/>
                </a:solidFill>
                <a:latin typeface="Calibri"/>
              </a:rPr>
              <a:t>LAN OK, Internet impossible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1839"/>
            <a:ext cx="11247120" cy="777240"/>
          </a:xfrm>
          <a:prstGeom prst="round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62828"/>
                </a:solidFill>
                <a:latin typeface="Calibri"/>
              </a:rPr>
              <a:t>✖  Conflit d’IP  →  </a:t>
            </a:r>
            <a:r>
              <a:rPr sz="1600" b="0">
                <a:solidFill>
                  <a:srgbClr val="1A1A1A"/>
                </a:solidFill>
                <a:latin typeface="Calibri"/>
              </a:rPr>
              <a:t>Coupures aléatoires, APIPA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60520"/>
            <a:ext cx="11247120" cy="777240"/>
          </a:xfrm>
          <a:prstGeom prst="round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62828"/>
                </a:solidFill>
                <a:latin typeface="Calibri"/>
              </a:rPr>
              <a:t>✖  DNS oublié (IP fixe)  →  </a:t>
            </a:r>
            <a:r>
              <a:rPr sz="1600" b="0">
                <a:solidFill>
                  <a:srgbClr val="1A1A1A"/>
                </a:solidFill>
                <a:latin typeface="Calibri"/>
              </a:rPr>
              <a:t>Ping IP OK, sites web KO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11247120" cy="777240"/>
          </a:xfrm>
          <a:prstGeom prst="round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62828"/>
                </a:solidFill>
                <a:latin typeface="Calibri"/>
              </a:rPr>
              <a:t>✖  169.254.x.x  →  </a:t>
            </a:r>
            <a:r>
              <a:rPr sz="1600" b="0">
                <a:solidFill>
                  <a:srgbClr val="1A1A1A"/>
                </a:solidFill>
                <a:latin typeface="Calibri"/>
              </a:rPr>
              <a:t>Pas de réponse DHCP — câble / serveur DHCP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Récap — 4 phrases à retenir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58:00 – 59:30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200400" cy="86868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
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645920"/>
            <a:ext cx="7863840" cy="8686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  Identifie la machine sur le réseau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3200400" cy="86868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
Masque / CIDR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697480"/>
            <a:ext cx="7863840" cy="8686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  Délimite qui est « local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3200400" cy="86868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
Passerelle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3749039"/>
            <a:ext cx="7863840" cy="8686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  Sortie pour tout le reste (Internet)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00600"/>
            <a:ext cx="3200400" cy="86868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
4 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4800600"/>
            <a:ext cx="7863840" cy="8686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  Localhost → GW → IP publique → nom DNS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Aide-mémoire (screenshot)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Commandes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Windows
  ipconfig /all
  ping 192.168.1.1
  nslookup google.com
Linux
  ip a
  ip route
  ping -c 4 8.8.8.8
  dig google.com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CIDR express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/8   →  255.0.0.0
/16  →  255.255.0.0
/24  →  255.255.255.0
/25  →  255.255.255.128
/26  →  255.255.255.192
/27  →  255.255.255.224
/30  →  255.255.255.252
Hôtes = 2^(32-n) − 2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19/22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Prochaine vidéo + devoir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640080"/>
            <a:ext cx="21031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59:30 – 60:00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320040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Vidéo 2 (semaine prochaine)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VLAN expliqué simplement
+ lab complet
3 VLAN • Access • Trunk
Inter-VLAN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94960" cy="3200400"/>
          </a:xfrm>
          <a:prstGeom prst="roundRect">
            <a:avLst/>
          </a:prstGeom>
          <a:solidFill>
            <a:srgbClr val="FFF3E0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Devoir (commentaire)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Calcule pour 10.0.5.80/23 :
• adresse réseau
• broadcast
• plage d’hôtes
Poste ta réponse en commentaire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Abonne-toi pour la playlist « Réseau 1 h »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Like si le masque est enfin clair 👍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20/22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Merci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E8F1F8"/>
                </a:solidFill>
                <a:latin typeface="Calibri"/>
              </a:rPr>
              <a:t>IP  •  Masque  •  Passerelle  •  4 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ABOU SAYABOU</a:t>
            </a:r>
          </a:p>
          <a:p>
            <a:pPr algn="ctr"/>
            <a:r>
              <a:rPr sz="1400" b="0">
                <a:solidFill>
                  <a:srgbClr val="2E86AB"/>
                </a:solidFill>
                <a:latin typeface="Calibri"/>
              </a:rPr>
              <a:t>Cours réseau — Vidéo 1 /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Notes formateur (ne pas montrer)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3B66"/>
                </a:solidFill>
                <a:latin typeface="Calibri"/>
              </a:rPr>
              <a:t>Notes de tournage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Garder le schéma slide 5 visible en fond pendant le lab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Pause 20–30 s sur chaque exercice avant corrigé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Montrer ipconfig /all en vrai (pas seulement capture)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Répéter : « GW dans le même réseau que l’IP »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CTA commentaire : 10.0.5.80/23 (réponse : réseau 10.0.4.0, BC 10.0.5.255)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Teaser vidéo 2 VLAN à la fin — même charte graphique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Durée cible parlée : ~55–60 min avec 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1 — IP, masque, passerelle  |  Débutant → Intermédiaire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Vidéo 1 — IP, masque, passerelle (cours 1h)</dc:title>
  <dc:subject>Cours réseau débutant — PowerPoint YouTube</dc:subject>
  <dc:creator>ABOU SAYABOU</dc:creator>
  <cp:keywords>réseau, IP, CIDR, passerelle, YouTube</cp:keywords>
  <dc:description>Support de cours vidéo 1h — IP, masque, passerelle</dc:description>
  <cp:lastModifiedBy>ABOU SAYABOU</cp:lastModifiedBy>
  <cp:revision>1</cp:revision>
  <dcterms:created xsi:type="dcterms:W3CDTF">2026-08-13T08:30:28Z</dcterms:created>
  <dcterms:modified xsi:type="dcterms:W3CDTF">2026-08-13T08:30:28Z</dcterms:modified>
  <cp:category>Formation réseau</cp:category>
  <dc:language>fr-FR</dc:language>
</cp:coreProperties>
</file>