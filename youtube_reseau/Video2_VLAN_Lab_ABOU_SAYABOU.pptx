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AB"/>
                </a:solidFill>
                <a:latin typeface="Calibri"/>
              </a:rPr>
              <a:t>COURS RÉSEAU  •  VIDÉO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VLAN expliqué simplement</a:t>
            </a:r>
          </a:p>
          <a:p>
            <a:r>
              <a:rPr sz="2800" b="1">
                <a:solidFill>
                  <a:srgbClr val="E8F1F8"/>
                </a:solidFill>
                <a:latin typeface="Calibri"/>
              </a:rPr>
              <a:t>+ lab complet (3 VLAN, 1 routeur)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0C4DE"/>
                </a:solidFill>
                <a:latin typeface="Calibri"/>
              </a:rPr>
              <a:t>Durée 1 heure  •  Packet Tracer  •  Access • Trunk • Inter-VLAN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r>
              <a:rPr sz="1400" b="0">
                <a:solidFill>
                  <a:srgbClr val="E8F1F8"/>
                </a:solidFill>
                <a:latin typeface="Calibri"/>
              </a:rPr>
              <a:t>Formateur cybersécurité &amp; réseaux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Objectif de la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3:00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À la fin de cette heure, tu sauras…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Pourquoi VLAN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Comprendre le problème du LAN plat : broadcasts, sécurité, Wi-Fi invités mélangés aux serveurs.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Access vs Trunk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Configurer des ports access (1 VLAN) et un trunk 802.1Q vers le routeur / l’autre switch.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Lab qui marche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3 VLAN (RH / Invités / Serveurs), inter-VLAN, tests ping, et une ACL pour isoler les invités.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Plan de la session (1 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Chapitres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371600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Pourquoi les VLAN (le problème)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87451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2023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Broadcast vs collision — rappel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3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37743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2315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VLAN = LAN logique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035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288035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13:00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2607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Access vs Trunk (802.1Q)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7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38327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2899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Native VLAN et erreurs classiques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8619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88619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26:00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93191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Inter-VLAN : SVI vs router-on-a-stick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1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38911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34:00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43483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Lab Packet Tracer — topologie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3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489203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40:00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93775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Config switch + trunk + routeur +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94959"/>
            <a:ext cx="640080" cy="43891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5394959"/>
            <a:ext cx="1188720" cy="43891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57:30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44067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Sécu invités, récap, devoir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Le problème : un LAN plat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Sans VLAN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1 switch = 1 grand réseau
• Tout le monde entend les broadcasts
• RH, invités Wi-Fi, serveurs mélangés
• Un PC infecté scanne tout le LAN
• Imprimantes et caméras exposées
• Difficile à faire grandir (scaling)
C’est le réseau « ça marche »…
jusqu’au premier incident.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Avec VLAN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Même switch physique
• Plusieurs LAN logiques
• Broadcasts contenus par VLAN
• Isolation : invités ≠ serveurs
• Politiques firewall plus simples
• Base d’un LAN PME propre
Objectif du lab : 3 mondes
sur 1 seul switch.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Rappel : collision vs broadcast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3:00 – 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Domaine de collision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Qui « parle » en même temps sur un média
• Switch moderne : 1 collision par port
  (full duplex)
• Moins un sujet aujourd’hui
À retenir : le switch sépare
les collisions.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Domaine de broadcast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Qui reçoit un paquet « à tout le monde »
  (ARP, DHCP discover, etc.)
• Par défaut : TOUT le VLAN / le LAN
• Le routeur / SVI arrête le broadcast
VLAN = découper le domaine
de broadcast.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VLAN = LAN 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8:00 – 13:00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Même matériel, 3 réseaux. IEEE 802.1Q.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566160" cy="4023360"/>
          </a:xfrm>
          <a:prstGeom prst="roundRect">
            <a:avLst/>
          </a:prstGeom>
          <a:solidFill>
            <a:srgbClr val="E3F2FD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1565C0"/>
                </a:solidFill>
                <a:latin typeface="Calibri"/>
              </a:rPr>
              <a:t>VLAN 10 — RH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10.10.10.0/24
GW : 10.10.10.1
PC RH, imprimantes
interne, téléphonie
de bureau.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566160" cy="402336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VLAN 20 — Invités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10.10.20.0/24
GW : 10.10.20.1
Wi-Fi guests,
visiteurs.
Pas d’accès serveurs.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566160" cy="402336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VLAN 30 — Serveurs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10.10.30.0/24
GW : 10.10.30.1
AD, fichiers, NAS,
applications métiers.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Access vs Trunk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13:00 – 20:00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Port ACCESS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1 seul VLAN (untagged)
• Branché à un PC, imprimante, AP
• Le PC ne « voit » pas le tag 802.1Q
switchport mode access
switchport access vlan 10
Erreur : mettre un PC en trunk
→ parfois ça marche… 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Port TRUNK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Plusieurs VLAN (tagged 802.1Q)
• Switch ↔ switch  ou  switch ↔ routeur
• Chaque trame porte un VLAN ID
switchport mode trunk
switchport trunk allowed vlan 10,20,30
Toujours limiter les VLAN
autorisés (pas « all » en prod).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Le tag 802.1Q (idée simple)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Schéma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Sur un lien trunk, le switch ajoute 4 octets : le VLAN ID (1–4094)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VLAN 10, 20, 30 voyagent sur LE MÊME câble vers le routeur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À l’arrivée, le routeur « décapsule » et route d’un VLAN vers un autre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Sur un port access : pas de tag — le VLAN est implicite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828800" cy="12801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Dest MAC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3931920"/>
            <a:ext cx="1828800" cy="12801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Src MAC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3931920"/>
            <a:ext cx="2194560" cy="12801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802.1Q
VLAN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21424" y="3931920"/>
            <a:ext cx="1371600" cy="12801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3931920"/>
            <a:ext cx="3200400" cy="12801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Données…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Native VLAN et erreurs classiques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20:00 – 26:00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Native VLAN = VLAN des trames SANS tag sur le trunk (souvent VLAN 1 par défaut)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En production : ne pas laisser le VLAN 1 pour la data ni pour le native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Les deux extrémités du trunk doivent avoir le MÊME native VLAN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Mismatch access / trunk = lien « bizarre », CDP native VLAN mismatch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▸  Oublier allowed vlan → trop de VLAN transitent (attaque VLAN hopping / bruit)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Règle d’or : un PC = port ACCESS. Un lien switch/routeur = TRUNK. Jamais l’inverse « par habitude 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Inter-VLAN routing : 2 méthodes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26:00 – 34:00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Router-on-a-stick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1 lien physique trunk vers un routeur
• Sous-interfaces : G0/0.10 .20 .30
• encapsulation dot1Q 10 / 20 / 30
• Simple pour un lab / petite PME
• Le lien unique peut saturer
→ C’est CE qu’on lab aujourd’hui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SVI (switch L3)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Switch multilayer (ex. 3560, 9300)
• interface vlan 10 + ip address
• ip routing
• Plus propre, plus performant
• Souvent + ACL / firewall ensuite
→ À mentionner : « la vraie vie PME »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Lab : topologie Packet Tracer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34:00 – 40:00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3 PC  •  1 switch L2  •  1 routeur  •  1 câble trunk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1965960" cy="1554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PC-RH
.10
VLAN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1965960" cy="1554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PC-INV
.10
VLAN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965960"/>
            <a:ext cx="1965960" cy="1554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PC-SRV
.10
VLAN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65960"/>
            <a:ext cx="1965960" cy="15544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SW1
Fa0/24 trunk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965960"/>
            <a:ext cx="1965960" cy="1554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R1
GW 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3657600" cy="2103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Adressage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VLAN10  10.10.10.0/24
VLAN20  10.10.20.0/24
VLAN30  10.10.30.0/24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794760"/>
            <a:ext cx="3657600" cy="2103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Ports switch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Fa0/1  access VLAN 10
Fa0/2  access VLAN 20
Fa0/3  access VLAN 30
Fa0/24 trunk → 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794760"/>
            <a:ext cx="3566160" cy="2103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IP .10 de leur VLAN
Masque /24
GW = .1 du VLAN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Config switch — VLAN et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40:00 – 48:00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SW1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onsolas"/>
              </a:rPr>
              <a:t>enable
configure terminal
vlan 10
 name RH
vlan 20
 name INVITES
vlan 30
 name SERVEURS
interface range fa0/1
 switchport mode access
 switchport access vlan 10
 switchport nonegotiate
interface fa0/2
 switchport mode access
 switchport access vlan 20
interface fa0/3
 switchport mode access
 switchport access vlan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Config switch — trunk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Trunk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58368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SW1 — Fa0/24 vers le routeur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onsolas"/>
              </a:rPr>
              <a:t>interface fa0/24
 switchport trunk encapsulation dot1q
 switchport mode trunk
 switchport trunk allowed vlan 10,20,30
 switchport trunk native vlan 99
 no shutdown
do show vlan brief
do show interfaces trunk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4389120" cy="45720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Vérifs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show vlan brief
→ ports dans le bon VLAN
show interfaces trunk
→ Fa0/24 trunking
Native VLAN 99 =
VLAN dummy (pas de data)
Si encapsulation n’existe pas
(switch L2 PT) :
omets la ligne encapsulation.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Config routeur — router-on-a-stick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48:00 – 54:00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R1 — sous-interfaces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onsolas"/>
              </a:rPr>
              <a:t>configure terminal
interface g0/0
 no shutdown
 no ip address
interface g0/0.10
 encapsulation dot1Q 10
 ip address 10.10.10.1 255.255.255.0
interface g0/0.20
 encapsulation dot1Q 20
 ip address 10.10.20.1 255.255.255.0
interface g0/0.30
 encapsulation dot1Q 30
 ip address 10.10.30.1 255.255.255.0
exit
do show ip route
do show ip interface brief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Config des PC (IP fixe pour le lab)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206240"/>
          </a:xfrm>
          <a:prstGeom prst="roundRect">
            <a:avLst/>
          </a:prstGeom>
          <a:solidFill>
            <a:srgbClr val="E3F2FD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1565C0"/>
                </a:solidFill>
                <a:latin typeface="Calibri"/>
              </a:rPr>
              <a:t>PC-RH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IP      10.10.10.10
Masque  255.255.255.0
GW      10.10.10.1
DNS     10.10.10.1
Port SW : Fa0/1
VLAN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420624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PC-INV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IP      10.10.20.10
Masque  255.255.255.0
GW      10.10.20.1
DNS     10.10.20.1
Port SW : Fa0/2
VLAN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566160" cy="420624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PC-SRV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IP      10.10.30.10
Masque  255.255.255.0
GW      10.10.30.1
DNS     10.10.30.1
Port SW : Fa0/3
VLAN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Tests ping — qui passe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54:00 – 57:30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3840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   Test                                      Résultat     Pourquoi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713232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PC-RH → 10.10.10.1 (GW)   →   </a:t>
            </a:r>
            <a:r>
              <a:rPr sz="1400" b="1">
                <a:solidFill>
                  <a:srgbClr val="2E7D32"/>
                </a:solidFill>
                <a:latin typeface="Calibri"/>
              </a:rPr>
              <a:t>OK</a:t>
            </a:r>
            <a:r>
              <a:rPr sz="1400" b="0">
                <a:solidFill>
                  <a:srgbClr val="555555"/>
                </a:solidFill>
                <a:latin typeface="Calibri"/>
              </a:rPr>
              <a:t>   •  Même VLAN + GW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24327"/>
            <a:ext cx="11247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PC-RH → PC-INV (10.10.20.10)   →   </a:t>
            </a:r>
            <a:r>
              <a:rPr sz="1400" b="1">
                <a:solidFill>
                  <a:srgbClr val="2E7D32"/>
                </a:solidFill>
                <a:latin typeface="Calibri"/>
              </a:rPr>
              <a:t>OK</a:t>
            </a:r>
            <a:r>
              <a:rPr sz="1400" b="0">
                <a:solidFill>
                  <a:srgbClr val="555555"/>
                </a:solidFill>
                <a:latin typeface="Calibri"/>
              </a:rPr>
              <a:t>   •  Inter-VLAN via 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74135"/>
            <a:ext cx="11247120" cy="713232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PC-RH → PC-SRV (10.10.30.10)   →   </a:t>
            </a:r>
            <a:r>
              <a:rPr sz="1400" b="1">
                <a:solidFill>
                  <a:srgbClr val="2E7D32"/>
                </a:solidFill>
                <a:latin typeface="Calibri"/>
              </a:rPr>
              <a:t>OK</a:t>
            </a:r>
            <a:r>
              <a:rPr sz="1400" b="0">
                <a:solidFill>
                  <a:srgbClr val="555555"/>
                </a:solidFill>
                <a:latin typeface="Calibri"/>
              </a:rPr>
              <a:t>   •  Inter-VLAN (à restreindre)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23944"/>
            <a:ext cx="11247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PC-RH → 10.10.20.10 sans trunk   →   </a:t>
            </a:r>
            <a:r>
              <a:rPr sz="1400" b="1">
                <a:solidFill>
                  <a:srgbClr val="C62828"/>
                </a:solidFill>
                <a:latin typeface="Calibri"/>
              </a:rPr>
              <a:t>KO</a:t>
            </a:r>
            <a:r>
              <a:rPr sz="1400" b="0">
                <a:solidFill>
                  <a:srgbClr val="555555"/>
                </a:solidFill>
                <a:latin typeface="Calibri"/>
              </a:rPr>
              <a:t>   •  Pas de chemin L3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73752"/>
            <a:ext cx="11247120" cy="713232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PC access VLAN 10 ping .20.10
sans IP sur .20 du routeur   →   </a:t>
            </a:r>
            <a:r>
              <a:rPr sz="1400" b="1">
                <a:solidFill>
                  <a:srgbClr val="C62828"/>
                </a:solidFill>
                <a:latin typeface="Calibri"/>
              </a:rPr>
              <a:t>KO</a:t>
            </a:r>
            <a:r>
              <a:rPr sz="1400" b="0">
                <a:solidFill>
                  <a:srgbClr val="555555"/>
                </a:solidFill>
                <a:latin typeface="Calibri"/>
              </a:rPr>
              <a:t>   •  Pas de GW inter-VLAN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Isolation invités : ACL (bonus lab)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Sécu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Les VLAN isolent L2. Pour bloquer Invités → Serveurs, il faut du L3 (ACL / firewall).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6766560" cy="4114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R1 — ACL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onsolas"/>
              </a:rPr>
              <a:t>ip access-list extended BLOQUE-INVITES
 deny ip 10.10.20.0 0.0.0.255 10.10.30.0 0.0.0.255
 permit ip any any
interface g0/0.20
 ip access-group BLOQUE-INVITES in
! Test : PC-INV ping PC-SRV  →  KO
! Test : PC-INV ping GW     → 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83080"/>
            <a:ext cx="4251960" cy="411480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Message clé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VLAN ≠ firewall.
VLAN = séparation
des broadcasts.
ACL / firewall =
qui a le droit d’aller
où.
En prod : plutôt
firewall (FortiGate)
entre les zones.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Sécurité VLAN — checklist PME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57:30 – 59:00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Pas de data sur VLAN 1 (change native + management dédié)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Ports access : nonegotiate (coupe DTP)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Trunk : allowed vlan list explicite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Ports inutilisés : shutdown + VLAN parking (ex. 999)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Invités : pas d’accès VLAN serveurs (ACL ou firewall)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Wi-Fi invité = VLAN 20 + isolation client AP si possible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Documenter : VLAN ID, nom, subnet, GW, 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Si le ping ne passe pas…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Dépannage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PC et GW pas le même VLAN / subnet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Revérifier IP .10 et GW 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Port encore en VLAN 1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show vlan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Trunk down / pas de dot1Q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show interfaces trunk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Sous-interface routeur shutdown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show ip interface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Câble sur le mauvais port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Topo Packet Tracer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49240"/>
            <a:ext cx="11247120" cy="713232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⚠  ACL trop large (deny any)   →   </a:t>
            </a:r>
            <a:r>
              <a:rPr sz="1500" b="0">
                <a:solidFill>
                  <a:srgbClr val="1A1A1A"/>
                </a:solidFill>
                <a:latin typeface="Calibri"/>
              </a:rPr>
              <a:t>Retirer l’ACL pour tester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Récap — 5 phrases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VLAN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Découpe le domaine de broadcast (LAN logique)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4231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Un port, un VLAN — pour les terminaux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Trunk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3375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Plusieurs VLAN taggés 802.1Q — pour switch/routeur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Inter-VLAN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2519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Il faut un routeur (stick) ou un SVI L3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663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Sécu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1663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VLAN ≠ firewall : ACL / FW pour invités → serveurs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Devoir + prochaine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59:00 – 60:00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206240"/>
          </a:xfrm>
          <a:prstGeom prst="roundRect">
            <a:avLst/>
          </a:prstGeom>
          <a:solidFill>
            <a:srgbClr val="FFF3E0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Devoir (commentaire)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Ajoute un VLAN 40 VoIP :
• subnet 10.10.40.0/24
• GW 10.10.40.1
• un PC-VOIP .10
• commande bonus :
  switchport voice vlan 40
Poste un screenshot show vlan brief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Vidéo 3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Le réseau est down :
7 étapes pour diagnostiquer
n’importe quelle panne
Méthode OSI + 3 incidents
+ les 4 ping de la vidéo 1
Abonne-toi à la playlist
« Réseau 1 h »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E8F1F8"/>
                </a:solidFill>
                <a:latin typeface="Calibri"/>
              </a:rPr>
              <a:t>VLAN  •  Access  •  Trunk  •  Inter-VLAN  •  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pPr algn="ctr"/>
            <a:r>
              <a:rPr sz="1400" b="0">
                <a:solidFill>
                  <a:srgbClr val="2E86AB"/>
                </a:solidFill>
                <a:latin typeface="Calibri"/>
              </a:rPr>
              <a:t>Cours réseau — Vidéo 2 /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Aide-mémoire (screenshot)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Commandes switch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show vlan brief
show interfaces trunk
show interfaces fa0/1 switchport
switchport mode access
switchport access vlan 10
switchport mode trunk
switchport trunk allowed vlan 10,20,30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Commandes routeur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interface g0/0.10
 encapsulation dot1Q 10
 ip address 10.10.10.1 255.255.255.0
show ip route
show ip interface brief
ACL : deny invités → serveurs
sur l’interface .20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Notes formateur (ne pas montrer)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Notes de tournage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Ouvrir Packet Tracer AVANT 34:00 pour ne pas perdre de temps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Si switch PT sans « encapsulation dot1q » : passer la ligne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Colorer les câbles PT (bleu VLAN10, vert 20, rouge 30, orange trunk)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Montrer show vlan brief AVANT et APRÈS (effet wow)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Ping inter-VLAN d’abord OK, PUIS ACL → le ping tombe : pédagogie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Devoir VLAN 40 : ne pas trop détailler voice vlan à l’oral (teaser)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CTA : « Screenshot show vlan brief en commentaire 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Réponse devoir V1 à rappeler en intro si tu publies 7 j après : 10.0.4.0/23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2 — VLAN + lab  |  Débutant → Intermédiaire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Vidéo 2 — VLAN expliqué simplement + lab (cours 1h)</dc:title>
  <dc:subject>Cours réseau — VLAN, access, trunk, inter-VLAN</dc:subject>
  <dc:creator>ABOU SAYABOU</dc:creator>
  <cp:keywords>VLAN, 802.1Q, trunk, Packet Tracer, YouTube</cp:keywords>
  <dc:description>Support de cours vidéo 1h — VLAN + lab</dc:description>
  <cp:lastModifiedBy>ABOU SAYABOU</cp:lastModifiedBy>
  <cp:revision>1</cp:revision>
  <dcterms:created xsi:type="dcterms:W3CDTF">2026-08-13T08:38:33Z</dcterms:created>
  <dcterms:modified xsi:type="dcterms:W3CDTF">2026-08-13T08:38:33Z</dcterms:modified>
  <cp:category>Formation réseau</cp:category>
  <dc:language>fr-FR</dc:language>
</cp:coreProperties>
</file>