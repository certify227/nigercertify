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AB"/>
                </a:solidFill>
                <a:latin typeface="Calibri"/>
              </a:rPr>
              <a:t>COURS RÉSEAU  •  VIDÉO 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Le réseau est down :</a:t>
            </a:r>
          </a:p>
          <a:p>
            <a:r>
              <a:rPr sz="3200" b="1">
                <a:solidFill>
                  <a:srgbClr val="E8F1F8"/>
                </a:solidFill>
                <a:latin typeface="Calibri"/>
              </a:rPr>
              <a:t>7 étapes pour diagnostiquer</a:t>
            </a:r>
          </a:p>
          <a:p>
            <a:r>
              <a:rPr sz="2800" b="1">
                <a:solidFill>
                  <a:srgbClr val="2E86AB"/>
                </a:solidFill>
                <a:latin typeface="Calibri"/>
              </a:rPr>
              <a:t>n’importe quelle panne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0C4DE"/>
                </a:solidFill>
                <a:latin typeface="Calibri"/>
              </a:rPr>
              <a:t>Durée 1 heure  •  Méthode OSI  •  3 incidents  •  4 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r>
              <a:rPr sz="1400" b="0">
                <a:solidFill>
                  <a:srgbClr val="E8F1F8"/>
                </a:solidFill>
                <a:latin typeface="Calibri"/>
              </a:rPr>
              <a:t>Formateur cybersécurité &amp; réseaux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Objectif de la vidéo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Arrêter de pinger au hasard. Appliquer une méthode.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1. Cadrer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Poser les bonnes questions avant les commandes : qui, depuis quand, Wi-Fi ou filaire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2. Isoler la couche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Remonter OSI / TCP-IP : physique → lien → IP → DNS →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384048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3. Résoudre 3 cas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Pas de lien • LAN OK Internet KO • Un site marche, l’autre non.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Plan de la session (1 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Chapitres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463040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Accroche : ne plus pinger au hasard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84832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084832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57984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Vue d’ensemble des 7 étapes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06624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706624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79776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Étapes 1 → 7 (détail + commandes)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28416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328416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44:00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015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Incident A — pas de lien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0208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950208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48:00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2336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Incident B — LAN OK, Internet KO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572000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64515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Incident C — un site KO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93792"/>
            <a:ext cx="640080" cy="5029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5193792"/>
            <a:ext cx="12801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58:00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266944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Fiche récap + devoir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Débutant vs intermédiaire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0:00 – 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Débutant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« Je ping google.com »
• Si KO → panique
• Si OK → « c’est le PC »
• Commandes au hasard
• Pas de notes
• Change 3 choses d’un coup
Résultat : perte de temps
et faux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Intermédiaire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« Je pose 3 questions »
• Qui est touché ?
• Depuis quand ?
• Qu’est-ce qui a changé ?
• Puis : 4 ping dans l’ordre
• Une couche à la fois
Résultat : cause trouvée
en minutes, pas en heures.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Les 7 étapes (vue d’ensemble)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2:00 – 6:00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417320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Cadrer le symptôme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75688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075688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Couche 1 — Physique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34056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734056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Couche 2 — Lien / VLAN / ARP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392424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Couche 3 — IP / masque / GW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50791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050791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DNS vs IP publique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09159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709159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Ports / firewall / proxy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367527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367527"/>
            <a:ext cx="10332720" cy="5029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3B66"/>
                </a:solidFill>
                <a:latin typeface="Calibri"/>
              </a:rPr>
              <a:t>  Journaliser et escalader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1 — Cadrer le symptôme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6:00 – 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Avant toute commande : comprendre le périmètre.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6AB"/>
                </a:solidFill>
                <a:latin typeface="Calibri"/>
              </a:rPr>
              <a:t>Qui ?  </a:t>
            </a:r>
            <a:r>
              <a:rPr sz="1600" b="0">
                <a:solidFill>
                  <a:srgbClr val="1A1A1A"/>
                </a:solidFill>
                <a:latin typeface="Calibri"/>
              </a:rPr>
              <a:t>1 utilisateur, un service, un étage, toute l’entreprise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124712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6AB"/>
                </a:solidFill>
                <a:latin typeface="Calibri"/>
              </a:rPr>
              <a:t>Quoi ?  </a:t>
            </a:r>
            <a:r>
              <a:rPr sz="1600" b="0">
                <a:solidFill>
                  <a:srgbClr val="1A1A1A"/>
                </a:solidFill>
                <a:latin typeface="Calibri"/>
              </a:rPr>
              <a:t>Pas Internet ? Lent ? Un seul site ? Mail OK, web KO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4712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6AB"/>
                </a:solidFill>
                <a:latin typeface="Calibri"/>
              </a:rPr>
              <a:t>Où ?  </a:t>
            </a:r>
            <a:r>
              <a:rPr sz="1600" b="0">
                <a:solidFill>
                  <a:srgbClr val="1A1A1A"/>
                </a:solidFill>
                <a:latin typeface="Calibri"/>
              </a:rPr>
              <a:t>Wi-Fi / filaire / VPN / site distant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4712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6AB"/>
                </a:solidFill>
                <a:latin typeface="Calibri"/>
              </a:rPr>
              <a:t>Quand ?  </a:t>
            </a:r>
            <a:r>
              <a:rPr sz="1600" b="0">
                <a:solidFill>
                  <a:srgbClr val="1A1A1A"/>
                </a:solidFill>
                <a:latin typeface="Calibri"/>
              </a:rPr>
              <a:t>Depuis 5 min, ce matin, après une MAJ / un orage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66360"/>
            <a:ext cx="11247120" cy="777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6AB"/>
                </a:solidFill>
                <a:latin typeface="Calibri"/>
              </a:rPr>
              <a:t>Changement ?  </a:t>
            </a:r>
            <a:r>
              <a:rPr sz="1600" b="0">
                <a:solidFill>
                  <a:srgbClr val="1A1A1A"/>
                </a:solidFill>
                <a:latin typeface="Calibri"/>
              </a:rPr>
              <a:t>Nouveau switch, VLAN, firewall, box FAI, GPO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2 — Couche 1 (physique)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10:00 – 16:00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À vérifier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Câble / connecteur RJ45
• LED du port switch (up/down)
• Bon SSID Wi-Fi (pas l’invité)
• Airplane mode / Wi-Fi off
• Port administratively down
• Adaptateur désactivé (OS)
• Alim AP / switch
70 % des « pannes réseau »
commencent ici.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Commandes / gestes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Windows
  ncpa.cpl
  (carte activée ?)
Linux
  ip link
  nmcli device status
Switch
  show interface status
  show interfaces fa0/1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3 — Couche 2 (lien / VLAN / ARP)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16:00 – 22:00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Lien up mais mauvais VLAN → IP OK, GW KO ou mauvais réseau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ARP : la machine connaît-elle la MAC de la passerelle 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AP isolé / client isolation Wi-Fi → ping voisin KO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Boucle / STP : saturations, clignotements, réseau « mort »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Mauvais trunk : VLAN manquant sur le trajet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19202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Commandes utiles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arp -a                          # Windows / Linux
show mac address-table           # Switch
show vlan brief / show interfaces trunk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4 — Couche 3 (IP / masque / GW)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22:00 – 28:00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Rappel vidéo 1 : IP, masque et passerelle doivent être cohérents.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657600" cy="4023360"/>
          </a:xfrm>
          <a:prstGeom prst="roundRect">
            <a:avLst/>
          </a:prstGeom>
          <a:solidFill>
            <a:srgbClr val="FFEBEE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C62828"/>
                </a:solidFill>
                <a:latin typeface="Calibri"/>
              </a:rPr>
              <a:t>Symptômes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169.254.x.x (APIPA)
• Pas de passerelle
• GW hors subnet
• Masque faux
• Conflit d’IP
• Double DHCP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57600" cy="40233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Actions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ipconfig /all  ou  ip a
• Ping de la GW
• Vérifier DHCP vs fixe
• Renew bail DHCP
• Table de routage
  (route print / ip route)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566160" cy="402336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Règle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GW dans le même
sous-réseau que l’IP.
Sinon : LAN parfois OK
entre voisins, mais
jamais d’Internet.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5 — DNS vs IP publique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28:00 – 34:00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Le test décisif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ping 8.8.8.8      → OK
ping google.com  → KO
= Problème DNS
  (pas le câble, pas la GW)
Inversement :
ping 8.8.8.8 KO
= Routage / NAT / FAI / FW
  (le DNS n’est pas encore
   le premier suspect)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Commandes DNS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nslookup google.com
dig google.com
Windows
  ipconfig /flushdns
  (vider le cache)
Tester un autre DNS
  1.1.1.1  ou  8.8.8.8
(temporairement, lab)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6 — Ports, firewall,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34:00 – 40:00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Ping OK ≠ application OK (ICMP ≠ HTTPS)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Tester le port : 443, 80, 25, 3389, 22…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Firewall local (Windows Defender) / firewall d’entreprise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Proxy web obligatoire : le navigateur marche, curl non (ou l’inverse)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Certificat TLS / date système fausse → sites HTTPS KO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▸  Filtrage DNS / category web / géobloc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11247120" cy="1828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Tests ports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Test-NetConnection google.com -Port 443     # PowerShell
curl -I https://exemple.com
nc -vz exemple.com 443                      # Linux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Étape 7 — Journaliser et escalader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40:00 – 44:00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Ce que tu notes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Heure de début / fin
• Symptôme exact (citation user)
• Périmètre (1 PC / VLAN / site)
• Commandes + résultats
• Changements effectués
• Hypothèse retenue
• Capture éventuelle (Wireshark)
Sans notes = panne qui revient
et personne ne sait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Quand escalader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FAI / box opérateur
• Équipe sécu (firewall)
• Cloud / SaaS (status page)
• Fournisseur VPN
Escalader AVEC un résumé
clair des 7 étapes,
pas juste « ça marche pas 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Les 4 ping (à graver)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Méthode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48640" cy="9601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508760"/>
            <a:ext cx="1042416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127.0.0.1   —   Pile TCP/IP locale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OS /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39"/>
            <a:ext cx="548640" cy="9601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606039"/>
            <a:ext cx="1042416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Passerelle   —   LAN + config L3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câble, VLAN, IP, GW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548640" cy="9601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703320"/>
            <a:ext cx="1042416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8.8.8.8   —   Sortie Internet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→ NAT / FAI / FW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548640" cy="96012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
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800600"/>
            <a:ext cx="10424160" cy="960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ping google.com   —   Résolution DNS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Si KO et 3 OK → DNS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Matrice rapide : lire les 4 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Aide-mémoire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005840" cy="685800"/>
          </a:xfrm>
          <a:prstGeom prst="rect">
            <a:avLst/>
          </a:prstGeom>
          <a:solidFill>
            <a:srgbClr val="0D3B66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417320"/>
            <a:ext cx="1005840" cy="685800"/>
          </a:xfrm>
          <a:prstGeom prst="rect">
            <a:avLst/>
          </a:prstGeom>
          <a:solidFill>
            <a:srgbClr val="0D3B66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1005840" cy="685800"/>
          </a:xfrm>
          <a:prstGeom prst="rect">
            <a:avLst/>
          </a:prstGeom>
          <a:solidFill>
            <a:srgbClr val="0D3B66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1005840" cy="685800"/>
          </a:xfrm>
          <a:prstGeom prst="rect">
            <a:avLst/>
          </a:prstGeom>
          <a:solidFill>
            <a:srgbClr val="0D3B66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17320"/>
            <a:ext cx="6858000" cy="685800"/>
          </a:xfrm>
          <a:prstGeom prst="rect">
            <a:avLst/>
          </a:prstGeom>
          <a:solidFill>
            <a:srgbClr val="0D3B66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Diagnostic probable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KO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1031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1031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1031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103120"/>
            <a:ext cx="685800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  Stack OS / adaptateur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7889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KO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7889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7889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788920"/>
            <a:ext cx="6858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  Câble, VLAN, IP, GW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4747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4747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KO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4747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474720"/>
            <a:ext cx="685800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  NAT, WAN, FAI, firewall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41605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1605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4160520"/>
            <a:ext cx="10058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KO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160520"/>
            <a:ext cx="68580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  DNS / filtre DNS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48463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8463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846320"/>
            <a:ext cx="100584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846320"/>
            <a:ext cx="6858000" cy="685800"/>
          </a:xfrm>
          <a:prstGeom prst="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  Appliquer étape 6 (port/proxy/cert)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Incident A — Pas de lien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44:00 – 48:00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Symptôme : icône réseau débranché / « Network cable unplugged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657600" cy="40233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Cadrage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1 seul PC
• Filaire
• Depuis ce matin
• Hier OK
• Agent a « rangé »
  les câbles hier soir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57600" cy="402336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Parcours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Cadrer → 1 PC
2. Physique → LED off
3. Tester autre câble
4. Autre port switch
5. show int status
6. Port shutdown
   trouvé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566160" cy="402336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Résolution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no shutdown
sur le port
Documenter :
qui a shutdown
et pourquoi
Leçon : couche 1
avant ping google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Incident B — LAN OK, Internet KO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48:00 – 53:00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Symptôme : partage de fichiers OK, web et mail externes KO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5669280" cy="41148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Résultats des 4 ping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onsolas"/>
              </a:rPr>
              <a:t>ping 127.0.0.1      OK
ping 192.168.1.1    OK   (GW)
ping 8.8.8.8        KO
ping google.com     KO
→ Étape 5 inutile tant que 3 = KO
→ Suspect : NAT / WAN / FAI / FW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303520" cy="41148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Actions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Traceroute / tracert 8.8.8.8
• Vérifier WAN box / routeur
• Lien FAI up ?
• Règle firewall outbound
• Autre réseau (tél. 4G)
  pour isoler le site
Cause fréquente lab :
NAT oublié / WAN 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Incident C — Un site marche, l’autre 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53:00 – 58:00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Indices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4 ping tous OK
• google.com OK
• intranet.entreprise.local KO
  ou un SaaS précis KO
Donc : pas le câble,
pas la GW, pas « Internet ».
→ Étape 6 + DNS interne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Pistes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DNS interne vs public
• Proxy / authentification
• Certificat expiré
• Filtrage catégorie web
• Firewall port 443 vers
  cette destination
• Service distant down
  (status page)
nslookup + curl -I + navigateur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Fiche récap (screenshot)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457200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Ordre d’attaque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Cadrer (qui/quoi/où/quand)
2. Physique (câble, LED, Wi-Fi)
3. Lien (VLAN, ARP, trunk)
4. IP / masque / GW
5. 8.8.8.8 vs nom DNS
6. Port / FW / proxy / cert
7. Notes + escalade
Une couche à la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E8F5E9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2E7D32"/>
                </a:solidFill>
                <a:latin typeface="Calibri"/>
              </a:rPr>
              <a:t>4 ping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1. 127.0.0.1
2. Passerelle
3. 8.8.8.8 (ou IP WAN)
4. google.com
Windows
  ipconfig /all
  ping …
  nslookup …
  Test-NetConnection -Port 443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OSI en mode dépannage (pas théorique)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Astuce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645920" cy="8229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7–5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63040"/>
            <a:ext cx="3200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63040"/>
            <a:ext cx="60350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Navigateur, mail, cert,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645920" cy="8229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77440"/>
            <a:ext cx="3200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Transport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377440"/>
            <a:ext cx="60350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Ports TCP/UDP, firewall L4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645920" cy="8229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291840"/>
            <a:ext cx="3200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Réseau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291840"/>
            <a:ext cx="60350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IP, masque, GW, routage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645920" cy="8229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06240"/>
            <a:ext cx="3200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Liaison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4206240"/>
            <a:ext cx="60350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MAC, VLAN, switch, ARP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645920" cy="82296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120640"/>
            <a:ext cx="3200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Physique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5120640"/>
            <a:ext cx="6035040" cy="82296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Câble, Wi-Fi radio, 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Erreurs de diagnostic (à éviter)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Pièges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Changer DNS + câble + firewall en même temps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Conclure « c’est le DNS » sans avoir testé 8.8.8.8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Ignorer qu’un seul user est touché (problème local)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Oublier le VPN / le proxy dans le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Ne rien écrire → la panne revient la semaine suivante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49240"/>
            <a:ext cx="11247120" cy="685800"/>
          </a:xfrm>
          <a:prstGeom prst="round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✖  Blâmer le FAI avant d’avoir ping la GW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Récap — ce que tu repars avec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Méthode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7 étapes, du cadrage à l’escalade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4 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4231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Localhost → GW → IP publique → DNS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OSI utile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3375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Physique → … → application, une couche à la fois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3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2519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Lien / Internet / un seul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66360"/>
            <a:ext cx="3017520" cy="804672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Pro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166360"/>
            <a:ext cx="8046720" cy="804672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  Notes + hypothèse + une modif à la fois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Cours réseau — 1 h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Devoir + fin de playlist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621792"/>
            <a:ext cx="219456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59:20 – 60:00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206240"/>
          </a:xfrm>
          <a:prstGeom prst="roundRect">
            <a:avLst/>
          </a:prstGeom>
          <a:solidFill>
            <a:srgbClr val="FFF8E1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E65100"/>
                </a:solidFill>
                <a:latin typeface="Calibri"/>
              </a:rPr>
              <a:t>Devoir (commentaire)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Décris UNE panne réelle
(ou inventée) avec :
• Cadrage (qui/quoi/où/quand)
• Résultat des 4 ping
• Étape où tu as trouvé
• Solution
Je corrige les meilleures
en commentaire épinglé.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/>
          </a:prstGeom>
          <a:solidFill>
            <a:srgbClr val="E8F1F8"/>
          </a:solidFill>
          <a:ln>
            <a:solidFill>
              <a:srgbClr val="BD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/>
          <a:lstStyle/>
          <a:p>
            <a:pPr algn="ctr"/>
            <a:r>
              <a:rPr sz="1600" b="1">
                <a:solidFill>
                  <a:srgbClr val="0D3B66"/>
                </a:solidFill>
                <a:latin typeface="Calibri"/>
              </a:rPr>
              <a:t>Playlist « Réseau 1 h »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V1 — IP, masque, passerelle
V2 — VLAN + lab
V3 — Diagnostic 7 étapes
Tu as maintenant un socle
débutant → intermédiaire.
Abonne-toi pour la suite
(Wireshark / Firewall / VPN).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E8F1F8"/>
                </a:solidFill>
                <a:latin typeface="Calibri"/>
              </a:rPr>
              <a:t>Cadrer  •  4 ping  •  Une couche à la fois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ABOU SAYABOU</a:t>
            </a:r>
          </a:p>
          <a:p>
            <a:pPr algn="ctr"/>
            <a:r>
              <a:rPr sz="1400" b="0">
                <a:solidFill>
                  <a:srgbClr val="2E86AB"/>
                </a:solidFill>
                <a:latin typeface="Calibri"/>
              </a:rPr>
              <a:t>Cours réseau — Vidéo 3 / 3 — Fin de la série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ABOU SAYABOU  •  Réseau informatique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E8F1F8"/>
                </a:solidFill>
                <a:latin typeface="Calibri"/>
              </a:rPr>
              <a:t>Notes formateur (ne pas montrer)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D3B66"/>
                </a:solidFill>
                <a:latin typeface="Calibri"/>
              </a:rPr>
              <a:t>Notes de tournage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7"/>
            <a:ext cx="1645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Garder la slide « 7 étapes » en favori pour y revenir pendant les incidents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Démo réelle : débrancher un câble (incident A) si tu tournes en live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Pour incident B : couper temporairement le NAT / WAN dans PT ou box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Insister : ping OK ≠ HTTPS OK (étape 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Rappeler V1 (GW) et V2 (VLAN) quand tu parles couche 2/3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Devoir : épingler 1–2 meilleurs commentaires le lendemain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Teaser prochaine série : Wireshark 1h / Firewall PME 1h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▸  Durée parlée cible : 55–60 min — ne pas griller le cadrage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Vidéo 3 — Diagnostic 7 étapes  |  Débutant → Intermédiaire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Vidéo 3 — Diagnostic panne réseau 7 étapes (cours 1h)</dc:title>
  <dc:subject>Cours réseau — dépannage OSI, 4 ping, incidents</dc:subject>
  <dc:creator>ABOU SAYABOU</dc:creator>
  <cp:keywords>diagnostic réseau, OSI, ping, DNS, YouTube</cp:keywords>
  <dc:description>Support de cours vidéo 1h — diagnostic 7 étapes</dc:description>
  <cp:lastModifiedBy>ABOU SAYABOU</cp:lastModifiedBy>
  <cp:revision>1</cp:revision>
  <dcterms:created xsi:type="dcterms:W3CDTF">2026-08-13T08:42:55Z</dcterms:created>
  <dcterms:modified xsi:type="dcterms:W3CDTF">2026-08-13T08:42:55Z</dcterms:modified>
  <cp:category>Formation réseau</cp:category>
  <dc:language>fr-FR</dc:language>
</cp:coreProperties>
</file>